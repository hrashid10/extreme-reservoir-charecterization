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E1239"/>
    <a:srgbClr val="4B1545"/>
    <a:srgbClr val="601A58"/>
    <a:srgbClr val="260D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7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2B737-B41B-5122-FF59-D8B56CA28E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67FAA38-82F1-CC98-53C4-20022746B0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D7DC1-99A3-7D4B-A9C9-A8A48B1A4B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8C66A-12DC-49EA-B589-6C46D28F7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F1AF32-4F7A-EFAD-D4EA-04B02B204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779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381FA-2A4D-CF04-78A1-A45DEEDD81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9789E4-D0EC-645C-C34B-4FAEE89991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A5D0D1-2B46-94FE-94DF-6C94398DEA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104199-B6D4-7A31-4CAB-62966D3652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5D090-6DE0-9C40-6CC9-13B0DBA1A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97240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B6908E-7885-07E8-3035-5DA2E8F3E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F9DAAF-24E6-EED1-E5BC-270A20394B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B3F11F-C842-0B42-3A06-0103A6ED5D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72A1C5-B0CA-370C-F8B1-EA36047E6E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B0493F-5250-69E6-85F7-CE36BD58A1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53269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8782DB-74AF-42B3-FD85-0DFE84E8E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BACB5D-26F0-0DB4-CF01-BAF43C068DD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6CA3FCD-49BF-6C83-1D75-738568D91E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D609B04-D984-DF2E-3AA9-8C8CB35B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4DEB863-F7EF-8675-14DC-4CE245CAB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9D7396-06D9-7698-CC89-FF1101E2A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698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89DC2-3F7B-5ACC-0BA2-60C92AAC2B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D0B0BB-DB22-3F8B-C723-1F84FDBD2B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C07C298-EAEB-4E7A-28E2-23DE7230C8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9280313-51E6-2DAC-40AB-63C510EFEAD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84F4A6-9F63-136A-859A-758933FB4F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8FA9BB3-D49D-EBF8-C02D-0E763F62CD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0992BDB-673A-1075-3533-A1B780B9CD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16387D3-3849-95C3-CF31-8115E86C4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407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30A47B-62BB-A96A-5311-BDC33D3B8B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6AE137A-7188-AF70-9BF9-AFEA90C5A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1606B50-263A-9811-778B-BB9CE2E60A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B5D480-9AD3-7631-DB97-E00491AA33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41138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0D62CF0-F37C-E19E-4078-CEDB0148D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B483FBB-F92A-7890-15E5-EBC9EC87DD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EFF92DC-FFEC-1F85-15DC-3059E6E943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75877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3D44A8-6C06-CD38-57C3-C60F046CF2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CCACC2-8AF3-AD48-6A59-EDB2D26773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7B4322-0732-88E7-A702-773FA83205D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1D2D9D2-16D2-3C69-6D59-5A05817BD1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D8B5D-CFD2-4C7D-4D83-B950A60CD6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285D3A2-8A4E-C178-18D7-3DD9A77CE6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49926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92CD5F-BFD8-4FD7-C593-9B90ABA0D1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0DDA59-51D9-6EDC-F194-D5B41C80A81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C4FA45-7186-FA9C-F781-CDF068B28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4E58E2-53A0-1828-E255-9499F1779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66C2519-1ACF-13D4-A68A-5F9996F027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37E447-7568-7B24-764E-5866592D1F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47744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935323-D457-49CD-3192-8AC6D9BBA6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766DA1-490B-4AC9-520A-F95D12DE51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736054-FD19-4D92-C944-3F367275FB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88ADE3-D112-99BB-4D3E-292C194C4F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F465E3-F13F-5C00-8B26-D1B69C3EBE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43328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7D2C22-B2B3-E0F4-FD8C-FB91E7E22F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9A1D26-89F2-F800-666A-09E82621313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29B290-7EA0-BC16-9D3D-0B0E925FE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331037-41D6-415F-A237-86B02D124B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E7B76F-4490-8236-811E-4E5C4AD21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427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28E946-8B5B-EC6C-05B4-3E9E35B6ED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CC669B-0C71-C134-E407-DCB130B532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112CB7-2CB8-3207-3FFF-7020FB873E3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62D7C4-731B-425C-A277-7023C31452F1}" type="datetimeFigureOut">
              <a:rPr lang="en-US" smtClean="0"/>
              <a:t>4/13/2026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1F33D4-10B0-8321-D01E-25C0AA0AB6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C0B57F-CCEE-0D08-E87F-DE1AAE67503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08C1AFB-E99F-4EF4-8327-8A8C9AF4F3F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36926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E12935-4B7F-88E3-DD84-B89A07A593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D9D55C01-27E0-831B-5BA8-22E3AA4743B2}"/>
              </a:ext>
            </a:extLst>
          </p:cNvPr>
          <p:cNvGrpSpPr/>
          <p:nvPr/>
        </p:nvGrpSpPr>
        <p:grpSpPr>
          <a:xfrm>
            <a:off x="2263084" y="617292"/>
            <a:ext cx="6113249" cy="4369642"/>
            <a:chOff x="2076271" y="518969"/>
            <a:chExt cx="6113249" cy="4369642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A8746963-2BBB-1F4E-49AE-F2F77CC98C6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79261" y="3686473"/>
              <a:ext cx="1215314" cy="1202138"/>
            </a:xfrm>
            <a:prstGeom prst="rect">
              <a:avLst/>
            </a:prstGeom>
          </p:spPr>
        </p:pic>
        <p:grpSp>
          <p:nvGrpSpPr>
            <p:cNvPr id="276" name="Group 275">
              <a:extLst>
                <a:ext uri="{FF2B5EF4-FFF2-40B4-BE49-F238E27FC236}">
                  <a16:creationId xmlns:a16="http://schemas.microsoft.com/office/drawing/2014/main" id="{9BAFC1B1-4BB3-7F1B-A9D6-9F8079F61F59}"/>
                </a:ext>
              </a:extLst>
            </p:cNvPr>
            <p:cNvGrpSpPr/>
            <p:nvPr/>
          </p:nvGrpSpPr>
          <p:grpSpPr>
            <a:xfrm>
              <a:off x="2076271" y="518969"/>
              <a:ext cx="6113249" cy="4210069"/>
              <a:chOff x="2076271" y="518969"/>
              <a:chExt cx="6113249" cy="4210069"/>
            </a:xfrm>
          </p:grpSpPr>
          <p:cxnSp>
            <p:nvCxnSpPr>
              <p:cNvPr id="299" name="Straight Arrow Connector 298">
                <a:extLst>
                  <a:ext uri="{FF2B5EF4-FFF2-40B4-BE49-F238E27FC236}">
                    <a16:creationId xmlns:a16="http://schemas.microsoft.com/office/drawing/2014/main" id="{48ECFA8C-3219-916A-3118-782A43DFAAFC}"/>
                  </a:ext>
                </a:extLst>
              </p:cNvPr>
              <p:cNvCxnSpPr>
                <a:cxnSpLocks/>
                <a:stCxn id="4" idx="3"/>
                <a:endCxn id="41" idx="1"/>
              </p:cNvCxnSpPr>
              <p:nvPr/>
            </p:nvCxnSpPr>
            <p:spPr>
              <a:xfrm flipV="1">
                <a:off x="4334585" y="1074359"/>
                <a:ext cx="634427" cy="1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A863D8C9-C6C6-37B0-5DCE-61B6A19012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26333" y="2158515"/>
                <a:ext cx="1345018" cy="1043432"/>
              </a:xfrm>
              <a:prstGeom prst="rect">
                <a:avLst/>
              </a:prstGeom>
            </p:spPr>
          </p:pic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EEA9B067-40DA-42B7-E111-084827FC3312}"/>
                  </a:ext>
                </a:extLst>
              </p:cNvPr>
              <p:cNvGrpSpPr/>
              <p:nvPr/>
            </p:nvGrpSpPr>
            <p:grpSpPr>
              <a:xfrm>
                <a:off x="2719727" y="518969"/>
                <a:ext cx="1984502" cy="1438107"/>
                <a:chOff x="2895269" y="1214524"/>
                <a:chExt cx="1867493" cy="1438107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A27D8954-6CEF-0F3C-947C-4B0BD5ADDFF9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18394" y="1214524"/>
                  <a:ext cx="1196518" cy="1110781"/>
                </a:xfrm>
                <a:prstGeom prst="rect">
                  <a:avLst/>
                </a:prstGeom>
              </p:spPr>
            </p:pic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26E329D5-F174-16F7-16C6-0D738A79544B}"/>
                    </a:ext>
                  </a:extLst>
                </p:cNvPr>
                <p:cNvSpPr/>
                <p:nvPr/>
              </p:nvSpPr>
              <p:spPr>
                <a:xfrm>
                  <a:off x="2895269" y="2331785"/>
                  <a:ext cx="1867493" cy="320846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True KL coefficients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CB578205-459C-E503-BF71-FDA38698D6E4}"/>
                  </a:ext>
                </a:extLst>
              </p:cNvPr>
              <p:cNvGrpSpPr/>
              <p:nvPr/>
            </p:nvGrpSpPr>
            <p:grpSpPr>
              <a:xfrm>
                <a:off x="4945972" y="2114531"/>
                <a:ext cx="2534340" cy="1110782"/>
                <a:chOff x="6817529" y="4422476"/>
                <a:chExt cx="2674195" cy="1169086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A22AEBFC-D4A8-AC8E-9633-9B517462B3AE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817529" y="4422476"/>
                  <a:ext cx="1311169" cy="1169086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DDAD58FC-1CDE-4B72-51E7-E0A60CF1CD56}"/>
                    </a:ext>
                  </a:extLst>
                </p:cNvPr>
                <p:cNvSpPr/>
                <p:nvPr/>
              </p:nvSpPr>
              <p:spPr>
                <a:xfrm>
                  <a:off x="7978335" y="4590152"/>
                  <a:ext cx="1513389" cy="776882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457200">
                    <a:defRPr/>
                  </a:pPr>
                  <a:r>
                    <a:rPr kumimoji="0" lang="en-US" sz="160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Inferred </a:t>
                  </a:r>
                  <a:r>
                    <a:rPr lang="en-US" sz="1600" kern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KL coefficients</a:t>
                  </a:r>
                  <a:endParaRPr kumimoji="0" lang="en-US" sz="160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486FFE8E-910C-4042-7BF1-5EAC71C1E994}"/>
                  </a:ext>
                </a:extLst>
              </p:cNvPr>
              <p:cNvSpPr/>
              <p:nvPr/>
            </p:nvSpPr>
            <p:spPr>
              <a:xfrm>
                <a:off x="4201536" y="4235874"/>
                <a:ext cx="1219378" cy="49316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Observed</a:t>
                </a:r>
              </a:p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pressure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248F16F1-D250-B50D-AE03-BDDDA3A3DDEF}"/>
                  </a:ext>
                </a:extLst>
              </p:cNvPr>
              <p:cNvSpPr/>
              <p:nvPr/>
            </p:nvSpPr>
            <p:spPr>
              <a:xfrm>
                <a:off x="4969012" y="754319"/>
                <a:ext cx="1196518" cy="640080"/>
              </a:xfrm>
              <a:prstGeom prst="rect">
                <a:avLst/>
              </a:prstGeom>
              <a:noFill/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Coefficient mismatch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C046CC18-6DFC-1229-A581-CC547D6D14CF}"/>
                  </a:ext>
                </a:extLst>
              </p:cNvPr>
              <p:cNvCxnSpPr>
                <a:cxnSpLocks/>
                <a:stCxn id="5" idx="0"/>
                <a:endCxn id="41" idx="2"/>
              </p:cNvCxnSpPr>
              <p:nvPr/>
            </p:nvCxnSpPr>
            <p:spPr>
              <a:xfrm flipV="1">
                <a:off x="5567271" y="1394399"/>
                <a:ext cx="0" cy="72013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BE7B7852-881F-EE18-A619-0D8645EBC872}"/>
                  </a:ext>
                </a:extLst>
              </p:cNvPr>
              <p:cNvCxnSpPr>
                <a:cxnSpLocks/>
                <a:stCxn id="158" idx="3"/>
                <a:endCxn id="5" idx="1"/>
              </p:cNvCxnSpPr>
              <p:nvPr/>
            </p:nvCxnSpPr>
            <p:spPr>
              <a:xfrm flipV="1">
                <a:off x="4371351" y="2669922"/>
                <a:ext cx="574621" cy="10309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75" name="Connector: Elbow 74">
                <a:extLst>
                  <a:ext uri="{FF2B5EF4-FFF2-40B4-BE49-F238E27FC236}">
                    <a16:creationId xmlns:a16="http://schemas.microsoft.com/office/drawing/2014/main" id="{3A828E17-522D-CD43-E857-A9840B1FDDBB}"/>
                  </a:ext>
                </a:extLst>
              </p:cNvPr>
              <p:cNvCxnSpPr>
                <a:cxnSpLocks/>
                <a:stCxn id="41" idx="3"/>
                <a:endCxn id="79" idx="0"/>
              </p:cNvCxnSpPr>
              <p:nvPr/>
            </p:nvCxnSpPr>
            <p:spPr>
              <a:xfrm>
                <a:off x="6165530" y="1074359"/>
                <a:ext cx="1425731" cy="2254780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DA73D31C-BA02-CAA5-05C4-47D18F883D03}"/>
                  </a:ext>
                </a:extLst>
              </p:cNvPr>
              <p:cNvSpPr/>
              <p:nvPr/>
            </p:nvSpPr>
            <p:spPr>
              <a:xfrm>
                <a:off x="6993002" y="3329139"/>
                <a:ext cx="1196518" cy="454757"/>
              </a:xfrm>
              <a:prstGeom prst="rect">
                <a:avLst/>
              </a:prstGeom>
              <a:noFill/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Loss</a:t>
                </a:r>
              </a:p>
            </p:txBody>
          </p:sp>
          <p:cxnSp>
            <p:nvCxnSpPr>
              <p:cNvPr id="85" name="Connector: Elbow 84">
                <a:extLst>
                  <a:ext uri="{FF2B5EF4-FFF2-40B4-BE49-F238E27FC236}">
                    <a16:creationId xmlns:a16="http://schemas.microsoft.com/office/drawing/2014/main" id="{7AC2B148-B135-837F-89B0-4B0C0A4813C6}"/>
                  </a:ext>
                </a:extLst>
              </p:cNvPr>
              <p:cNvCxnSpPr>
                <a:cxnSpLocks/>
                <a:stCxn id="21" idx="1"/>
                <a:endCxn id="158" idx="2"/>
              </p:cNvCxnSpPr>
              <p:nvPr/>
            </p:nvCxnSpPr>
            <p:spPr>
              <a:xfrm rot="10800000">
                <a:off x="3698843" y="3201948"/>
                <a:ext cx="1005387" cy="360407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35C2712C-5073-BB29-EA2D-5E4B723304AE}"/>
                  </a:ext>
                </a:extLst>
              </p:cNvPr>
              <p:cNvSpPr txBox="1"/>
              <p:nvPr/>
            </p:nvSpPr>
            <p:spPr>
              <a:xfrm>
                <a:off x="2076271" y="2840839"/>
                <a:ext cx="1599692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Neural Network</a:t>
                </a:r>
                <a:r>
                  <a:rPr lang="en-US" sz="16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28D2D877-6E61-68B7-C46E-FD2548BDC96E}"/>
                  </a:ext>
                </a:extLst>
              </p:cNvPr>
              <p:cNvSpPr txBox="1"/>
              <p:nvPr/>
            </p:nvSpPr>
            <p:spPr>
              <a:xfrm>
                <a:off x="4704229" y="3393077"/>
                <a:ext cx="1726085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Backpropagation</a:t>
                </a:r>
              </a:p>
            </p:txBody>
          </p:sp>
          <p:cxnSp>
            <p:nvCxnSpPr>
              <p:cNvPr id="259" name="Connector: Elbow 258">
                <a:extLst>
                  <a:ext uri="{FF2B5EF4-FFF2-40B4-BE49-F238E27FC236}">
                    <a16:creationId xmlns:a16="http://schemas.microsoft.com/office/drawing/2014/main" id="{DB3ABFE0-C50C-DFBF-C7E7-2A8E725BAED7}"/>
                  </a:ext>
                </a:extLst>
              </p:cNvPr>
              <p:cNvCxnSpPr>
                <a:cxnSpLocks/>
                <a:stCxn id="9" idx="1"/>
                <a:endCxn id="158" idx="1"/>
              </p:cNvCxnSpPr>
              <p:nvPr/>
            </p:nvCxnSpPr>
            <p:spPr>
              <a:xfrm rot="10800000">
                <a:off x="3026333" y="2680232"/>
                <a:ext cx="52928" cy="1607311"/>
              </a:xfrm>
              <a:prstGeom prst="bentConnector3">
                <a:avLst>
                  <a:gd name="adj1" fmla="val 1330704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30CFA2CB-D526-259A-80DA-8AA088468BFC}"/>
              </a:ext>
            </a:extLst>
          </p:cNvPr>
          <p:cNvCxnSpPr>
            <a:stCxn id="21" idx="3"/>
            <a:endCxn id="79" idx="1"/>
          </p:cNvCxnSpPr>
          <p:nvPr/>
        </p:nvCxnSpPr>
        <p:spPr>
          <a:xfrm flipV="1">
            <a:off x="6617127" y="3654841"/>
            <a:ext cx="562688" cy="5836"/>
          </a:xfrm>
          <a:prstGeom prst="line">
            <a:avLst/>
          </a:prstGeom>
          <a:ln w="9525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34978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F45192-ADF5-0C9D-6AE7-8BE79A7C0A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>
            <a:extLst>
              <a:ext uri="{FF2B5EF4-FFF2-40B4-BE49-F238E27FC236}">
                <a16:creationId xmlns:a16="http://schemas.microsoft.com/office/drawing/2014/main" id="{0A7D8C40-C1E1-3ACE-F84F-078273326DD3}"/>
              </a:ext>
            </a:extLst>
          </p:cNvPr>
          <p:cNvGrpSpPr/>
          <p:nvPr/>
        </p:nvGrpSpPr>
        <p:grpSpPr>
          <a:xfrm>
            <a:off x="2222236" y="625740"/>
            <a:ext cx="8123567" cy="4520726"/>
            <a:chOff x="2189720" y="340604"/>
            <a:chExt cx="8123567" cy="4520726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0C11EF4-ADBC-0EF5-A0CD-6B61E8703C5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944852" y="1834868"/>
              <a:ext cx="1230707" cy="1168461"/>
            </a:xfrm>
            <a:prstGeom prst="rect">
              <a:avLst/>
            </a:prstGeom>
          </p:spPr>
        </p:pic>
        <p:pic>
          <p:nvPicPr>
            <p:cNvPr id="2" name="Picture 1">
              <a:extLst>
                <a:ext uri="{FF2B5EF4-FFF2-40B4-BE49-F238E27FC236}">
                  <a16:creationId xmlns:a16="http://schemas.microsoft.com/office/drawing/2014/main" id="{926AB4DD-283B-A570-D3B6-46782DC9048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63097" y="3659192"/>
              <a:ext cx="1215314" cy="1202138"/>
            </a:xfrm>
            <a:prstGeom prst="rect">
              <a:avLst/>
            </a:prstGeom>
          </p:spPr>
        </p:pic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22E94AE9-C150-13DD-7E88-61D693DB6A2D}"/>
                </a:ext>
              </a:extLst>
            </p:cNvPr>
            <p:cNvGrpSpPr/>
            <p:nvPr/>
          </p:nvGrpSpPr>
          <p:grpSpPr>
            <a:xfrm>
              <a:off x="2189720" y="340604"/>
              <a:ext cx="8123567" cy="4495679"/>
              <a:chOff x="2189720" y="340604"/>
              <a:chExt cx="8123567" cy="4495679"/>
            </a:xfrm>
          </p:grpSpPr>
          <p:cxnSp>
            <p:nvCxnSpPr>
              <p:cNvPr id="299" name="Straight Arrow Connector 298">
                <a:extLst>
                  <a:ext uri="{FF2B5EF4-FFF2-40B4-BE49-F238E27FC236}">
                    <a16:creationId xmlns:a16="http://schemas.microsoft.com/office/drawing/2014/main" id="{59843535-0D7E-0253-0A20-DB578FB55CA3}"/>
                  </a:ext>
                </a:extLst>
              </p:cNvPr>
              <p:cNvCxnSpPr>
                <a:cxnSpLocks/>
                <a:stCxn id="4" idx="3"/>
                <a:endCxn id="41" idx="1"/>
              </p:cNvCxnSpPr>
              <p:nvPr/>
            </p:nvCxnSpPr>
            <p:spPr>
              <a:xfrm flipV="1">
                <a:off x="4324692" y="895994"/>
                <a:ext cx="377436" cy="1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pic>
            <p:nvPicPr>
              <p:cNvPr id="158" name="Picture 157">
                <a:extLst>
                  <a:ext uri="{FF2B5EF4-FFF2-40B4-BE49-F238E27FC236}">
                    <a16:creationId xmlns:a16="http://schemas.microsoft.com/office/drawing/2014/main" id="{30D27876-F3A5-EF4E-2533-D547F6D78D4A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016441" y="1897382"/>
                <a:ext cx="1345018" cy="1043432"/>
              </a:xfrm>
              <a:prstGeom prst="rect">
                <a:avLst/>
              </a:prstGeom>
            </p:spPr>
          </p:pic>
          <p:sp>
            <p:nvSpPr>
              <p:cNvPr id="390" name="TextBox 389">
                <a:extLst>
                  <a:ext uri="{FF2B5EF4-FFF2-40B4-BE49-F238E27FC236}">
                    <a16:creationId xmlns:a16="http://schemas.microsoft.com/office/drawing/2014/main" id="{2837EBD8-4BF8-182B-F013-41FF98026E2C}"/>
                  </a:ext>
                </a:extLst>
              </p:cNvPr>
              <p:cNvSpPr txBox="1"/>
              <p:nvPr/>
            </p:nvSpPr>
            <p:spPr>
              <a:xfrm>
                <a:off x="6239315" y="2126711"/>
                <a:ext cx="1387909" cy="584775"/>
              </a:xfrm>
              <a:prstGeom prst="rect">
                <a:avLst/>
              </a:prstGeom>
              <a:solidFill>
                <a:schemeClr val="tx2">
                  <a:lumMod val="90000"/>
                  <a:lumOff val="10000"/>
                </a:schemeClr>
              </a:solidFill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Differentiable</a:t>
                </a:r>
              </a:p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1"/>
                    </a:solidFill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Simulator</a:t>
                </a:r>
              </a:p>
            </p:txBody>
          </p:sp>
          <p:grpSp>
            <p:nvGrpSpPr>
              <p:cNvPr id="36" name="Group 35">
                <a:extLst>
                  <a:ext uri="{FF2B5EF4-FFF2-40B4-BE49-F238E27FC236}">
                    <a16:creationId xmlns:a16="http://schemas.microsoft.com/office/drawing/2014/main" id="{8DE7B167-7BA7-571B-2D78-FC21FD960AD1}"/>
                  </a:ext>
                </a:extLst>
              </p:cNvPr>
              <p:cNvGrpSpPr/>
              <p:nvPr/>
            </p:nvGrpSpPr>
            <p:grpSpPr>
              <a:xfrm>
                <a:off x="2745913" y="340604"/>
                <a:ext cx="1995946" cy="1501304"/>
                <a:chOff x="2919912" y="1036159"/>
                <a:chExt cx="1878263" cy="1501304"/>
              </a:xfrm>
            </p:grpSpPr>
            <p:pic>
              <p:nvPicPr>
                <p:cNvPr id="4" name="Picture 3">
                  <a:extLst>
                    <a:ext uri="{FF2B5EF4-FFF2-40B4-BE49-F238E27FC236}">
                      <a16:creationId xmlns:a16="http://schemas.microsoft.com/office/drawing/2014/main" id="{07D6A3CA-EF06-5C1F-166C-05BFBFAF18F0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3209087" y="1036159"/>
                  <a:ext cx="1196518" cy="1110781"/>
                </a:xfrm>
                <a:prstGeom prst="rect">
                  <a:avLst/>
                </a:prstGeom>
              </p:spPr>
            </p:pic>
            <p:sp>
              <p:nvSpPr>
                <p:cNvPr id="335" name="Rectangle 334">
                  <a:extLst>
                    <a:ext uri="{FF2B5EF4-FFF2-40B4-BE49-F238E27FC236}">
                      <a16:creationId xmlns:a16="http://schemas.microsoft.com/office/drawing/2014/main" id="{EEC77CC8-95EB-9FD4-B10D-219C011B6A6A}"/>
                    </a:ext>
                  </a:extLst>
                </p:cNvPr>
                <p:cNvSpPr/>
                <p:nvPr/>
              </p:nvSpPr>
              <p:spPr>
                <a:xfrm>
                  <a:off x="2919912" y="2071842"/>
                  <a:ext cx="1878263" cy="465621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marL="0" marR="0" lvl="0" indent="0" algn="ctr" defTabSz="4572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r>
                    <a:rPr kumimoji="0" lang="en-US" sz="160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True KL coefficients</a:t>
                  </a:r>
                </a:p>
              </p:txBody>
            </p:sp>
          </p:grpSp>
          <p:grpSp>
            <p:nvGrpSpPr>
              <p:cNvPr id="37" name="Group 36">
                <a:extLst>
                  <a:ext uri="{FF2B5EF4-FFF2-40B4-BE49-F238E27FC236}">
                    <a16:creationId xmlns:a16="http://schemas.microsoft.com/office/drawing/2014/main" id="{F281820B-9EEA-7A3C-1167-7622C2D90A19}"/>
                  </a:ext>
                </a:extLst>
              </p:cNvPr>
              <p:cNvGrpSpPr/>
              <p:nvPr/>
            </p:nvGrpSpPr>
            <p:grpSpPr>
              <a:xfrm>
                <a:off x="4125601" y="1863710"/>
                <a:ext cx="2282252" cy="1691847"/>
                <a:chOff x="5951886" y="4158492"/>
                <a:chExt cx="2408195" cy="1780652"/>
              </a:xfrm>
            </p:grpSpPr>
            <p:pic>
              <p:nvPicPr>
                <p:cNvPr id="5" name="Picture 4">
                  <a:extLst>
                    <a:ext uri="{FF2B5EF4-FFF2-40B4-BE49-F238E27FC236}">
                      <a16:creationId xmlns:a16="http://schemas.microsoft.com/office/drawing/2014/main" id="{6CA7EAB6-0F18-747C-BBC7-30009902216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6535916" y="4158492"/>
                  <a:ext cx="1311169" cy="1169086"/>
                </a:xfrm>
                <a:prstGeom prst="rect">
                  <a:avLst/>
                </a:prstGeom>
              </p:spPr>
            </p:pic>
            <p:sp>
              <p:nvSpPr>
                <p:cNvPr id="8" name="Rectangle 7">
                  <a:extLst>
                    <a:ext uri="{FF2B5EF4-FFF2-40B4-BE49-F238E27FC236}">
                      <a16:creationId xmlns:a16="http://schemas.microsoft.com/office/drawing/2014/main" id="{22245780-E67A-0BA3-DFB4-848431AA18C8}"/>
                    </a:ext>
                  </a:extLst>
                </p:cNvPr>
                <p:cNvSpPr/>
                <p:nvPr/>
              </p:nvSpPr>
              <p:spPr>
                <a:xfrm>
                  <a:off x="5951886" y="5162262"/>
                  <a:ext cx="2408195" cy="776882"/>
                </a:xfrm>
                <a:prstGeom prst="rect">
                  <a:avLst/>
                </a:prstGeom>
                <a:noFill/>
                <a:ln w="12700" cap="flat" cmpd="sng" algn="ctr">
                  <a:noFill/>
                  <a:prstDash val="solid"/>
                  <a:miter lim="800000"/>
                </a:ln>
                <a:effectLst/>
              </p:spPr>
              <p:txBody>
                <a:bodyPr rtlCol="0" anchor="ctr"/>
                <a:lstStyle/>
                <a:p>
                  <a:pPr algn="ctr" defTabSz="457200">
                    <a:defRPr/>
                  </a:pPr>
                  <a:r>
                    <a:rPr kumimoji="0" lang="en-US" sz="1600" u="none" strike="noStrike" kern="0" cap="none" spc="0" normalizeH="0" baseline="0" noProof="0" dirty="0">
                      <a:ln>
                        <a:noFill/>
                      </a:ln>
                      <a:effectLst/>
                      <a:uLnTx/>
                      <a:uFillTx/>
                      <a:latin typeface="Arial" panose="020B0604020202020204" pitchFamily="34" charset="0"/>
                      <a:cs typeface="Arial" panose="020B0604020202020204" pitchFamily="34" charset="0"/>
                    </a:rPr>
                    <a:t>Inferred </a:t>
                  </a:r>
                  <a:r>
                    <a:rPr lang="en-US" sz="1600" kern="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KL coefficients</a:t>
                  </a:r>
                  <a:endParaRPr kumimoji="0" lang="en-US" sz="160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31" name="Rectangle 30">
                <a:extLst>
                  <a:ext uri="{FF2B5EF4-FFF2-40B4-BE49-F238E27FC236}">
                    <a16:creationId xmlns:a16="http://schemas.microsoft.com/office/drawing/2014/main" id="{D85CF4E2-5F0D-1551-8B95-B58518B09869}"/>
                  </a:ext>
                </a:extLst>
              </p:cNvPr>
              <p:cNvSpPr/>
              <p:nvPr/>
            </p:nvSpPr>
            <p:spPr>
              <a:xfrm>
                <a:off x="4165023" y="4343119"/>
                <a:ext cx="1219378" cy="493164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Observed</a:t>
                </a:r>
              </a:p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pressure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Rectangle 40">
                <a:extLst>
                  <a:ext uri="{FF2B5EF4-FFF2-40B4-BE49-F238E27FC236}">
                    <a16:creationId xmlns:a16="http://schemas.microsoft.com/office/drawing/2014/main" id="{81747B8B-7A70-0E34-694C-CDAEEF34FFF7}"/>
                  </a:ext>
                </a:extLst>
              </p:cNvPr>
              <p:cNvSpPr/>
              <p:nvPr/>
            </p:nvSpPr>
            <p:spPr>
              <a:xfrm>
                <a:off x="4702128" y="575954"/>
                <a:ext cx="1196518" cy="640080"/>
              </a:xfrm>
              <a:prstGeom prst="rect">
                <a:avLst/>
              </a:prstGeom>
              <a:noFill/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Coefficient mismatch</a:t>
                </a:r>
              </a:p>
            </p:txBody>
          </p:sp>
          <p:cxnSp>
            <p:nvCxnSpPr>
              <p:cNvPr id="51" name="Straight Arrow Connector 50">
                <a:extLst>
                  <a:ext uri="{FF2B5EF4-FFF2-40B4-BE49-F238E27FC236}">
                    <a16:creationId xmlns:a16="http://schemas.microsoft.com/office/drawing/2014/main" id="{8D04177A-DA92-4197-7C45-A344BCFC2948}"/>
                  </a:ext>
                </a:extLst>
              </p:cNvPr>
              <p:cNvCxnSpPr>
                <a:cxnSpLocks/>
                <a:stCxn id="5" idx="0"/>
                <a:endCxn id="41" idx="2"/>
              </p:cNvCxnSpPr>
              <p:nvPr/>
            </p:nvCxnSpPr>
            <p:spPr>
              <a:xfrm flipV="1">
                <a:off x="5300387" y="1216034"/>
                <a:ext cx="0" cy="647676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  <p:sp>
            <p:nvSpPr>
              <p:cNvPr id="54" name="Rectangle 53">
                <a:extLst>
                  <a:ext uri="{FF2B5EF4-FFF2-40B4-BE49-F238E27FC236}">
                    <a16:creationId xmlns:a16="http://schemas.microsoft.com/office/drawing/2014/main" id="{5DFED565-E2EB-E1CD-DE13-E2AA80D7D22D}"/>
                  </a:ext>
                </a:extLst>
              </p:cNvPr>
              <p:cNvSpPr/>
              <p:nvPr/>
            </p:nvSpPr>
            <p:spPr>
              <a:xfrm>
                <a:off x="7961946" y="3940221"/>
                <a:ext cx="1196518" cy="640080"/>
              </a:xfrm>
              <a:prstGeom prst="rect">
                <a:avLst/>
              </a:prstGeom>
              <a:noFill/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Pressure mismatch</a:t>
                </a:r>
              </a:p>
            </p:txBody>
          </p:sp>
          <p:cxnSp>
            <p:nvCxnSpPr>
              <p:cNvPr id="59" name="Straight Arrow Connector 58">
                <a:extLst>
                  <a:ext uri="{FF2B5EF4-FFF2-40B4-BE49-F238E27FC236}">
                    <a16:creationId xmlns:a16="http://schemas.microsoft.com/office/drawing/2014/main" id="{31EEA997-FA9E-DB2E-8841-C3CCCCDE6803}"/>
                  </a:ext>
                </a:extLst>
              </p:cNvPr>
              <p:cNvCxnSpPr>
                <a:cxnSpLocks/>
                <a:stCxn id="2" idx="3"/>
                <a:endCxn id="54" idx="1"/>
              </p:cNvCxnSpPr>
              <p:nvPr/>
            </p:nvCxnSpPr>
            <p:spPr>
              <a:xfrm>
                <a:off x="4278411" y="4260261"/>
                <a:ext cx="3683535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2" name="Straight Arrow Connector 61">
                <a:extLst>
                  <a:ext uri="{FF2B5EF4-FFF2-40B4-BE49-F238E27FC236}">
                    <a16:creationId xmlns:a16="http://schemas.microsoft.com/office/drawing/2014/main" id="{175F80D4-8771-D42E-27BB-CA3144E32680}"/>
                  </a:ext>
                </a:extLst>
              </p:cNvPr>
              <p:cNvCxnSpPr>
                <a:cxnSpLocks/>
                <a:stCxn id="158" idx="3"/>
                <a:endCxn id="5" idx="1"/>
              </p:cNvCxnSpPr>
              <p:nvPr/>
            </p:nvCxnSpPr>
            <p:spPr>
              <a:xfrm>
                <a:off x="4361459" y="2419098"/>
                <a:ext cx="317629" cy="2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5" name="Straight Arrow Connector 64">
                <a:extLst>
                  <a:ext uri="{FF2B5EF4-FFF2-40B4-BE49-F238E27FC236}">
                    <a16:creationId xmlns:a16="http://schemas.microsoft.com/office/drawing/2014/main" id="{22B1E46C-A254-BDE6-CDE7-4EE9EFD8BBD1}"/>
                  </a:ext>
                </a:extLst>
              </p:cNvPr>
              <p:cNvCxnSpPr>
                <a:cxnSpLocks/>
                <a:stCxn id="5" idx="3"/>
                <a:endCxn id="390" idx="1"/>
              </p:cNvCxnSpPr>
              <p:nvPr/>
            </p:nvCxnSpPr>
            <p:spPr>
              <a:xfrm flipV="1">
                <a:off x="5921686" y="2419099"/>
                <a:ext cx="317629" cy="1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68" name="Straight Arrow Connector 67">
                <a:extLst>
                  <a:ext uri="{FF2B5EF4-FFF2-40B4-BE49-F238E27FC236}">
                    <a16:creationId xmlns:a16="http://schemas.microsoft.com/office/drawing/2014/main" id="{D66FA604-0A36-1951-2510-88831979FDFD}"/>
                  </a:ext>
                </a:extLst>
              </p:cNvPr>
              <p:cNvCxnSpPr>
                <a:cxnSpLocks/>
                <a:stCxn id="390" idx="3"/>
                <a:endCxn id="10" idx="1"/>
              </p:cNvCxnSpPr>
              <p:nvPr/>
            </p:nvCxnSpPr>
            <p:spPr>
              <a:xfrm>
                <a:off x="7627224" y="2419099"/>
                <a:ext cx="317628" cy="0"/>
              </a:xfrm>
              <a:prstGeom prst="straightConnector1">
                <a:avLst/>
              </a:prstGeom>
              <a:noFill/>
              <a:ln w="12700" cap="flat" cmpd="sng" algn="ctr">
                <a:solidFill>
                  <a:schemeClr val="tx1"/>
                </a:solidFill>
                <a:prstDash val="solid"/>
                <a:miter lim="800000"/>
                <a:tailEnd type="triangle"/>
              </a:ln>
              <a:effectLst/>
            </p:spPr>
          </p:cxnSp>
          <p:cxnSp>
            <p:nvCxnSpPr>
              <p:cNvPr id="75" name="Connector: Elbow 74">
                <a:extLst>
                  <a:ext uri="{FF2B5EF4-FFF2-40B4-BE49-F238E27FC236}">
                    <a16:creationId xmlns:a16="http://schemas.microsoft.com/office/drawing/2014/main" id="{0D55BB6D-D08F-2EC9-129E-BBFE2C1A662C}"/>
                  </a:ext>
                </a:extLst>
              </p:cNvPr>
              <p:cNvCxnSpPr>
                <a:cxnSpLocks/>
                <a:stCxn id="41" idx="3"/>
                <a:endCxn id="79" idx="0"/>
              </p:cNvCxnSpPr>
              <p:nvPr/>
            </p:nvCxnSpPr>
            <p:spPr>
              <a:xfrm>
                <a:off x="5898646" y="895994"/>
                <a:ext cx="3816382" cy="2415844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C3FECDE8-7AF6-2C93-9AA9-BFEAD9A6DA0B}"/>
                  </a:ext>
                </a:extLst>
              </p:cNvPr>
              <p:cNvSpPr/>
              <p:nvPr/>
            </p:nvSpPr>
            <p:spPr>
              <a:xfrm>
                <a:off x="9116769" y="3311838"/>
                <a:ext cx="1196518" cy="454757"/>
              </a:xfrm>
              <a:prstGeom prst="rect">
                <a:avLst/>
              </a:prstGeom>
              <a:noFill/>
              <a:ln w="12700" cap="flat" cmpd="sng" algn="ctr">
                <a:solidFill>
                  <a:srgbClr val="4472C4">
                    <a:shade val="15000"/>
                  </a:srgbClr>
                </a:solidFill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Loss</a:t>
                </a:r>
              </a:p>
            </p:txBody>
          </p:sp>
          <p:cxnSp>
            <p:nvCxnSpPr>
              <p:cNvPr id="82" name="Connector: Elbow 81">
                <a:extLst>
                  <a:ext uri="{FF2B5EF4-FFF2-40B4-BE49-F238E27FC236}">
                    <a16:creationId xmlns:a16="http://schemas.microsoft.com/office/drawing/2014/main" id="{F373AD57-947D-4F80-2045-B2AC837141E0}"/>
                  </a:ext>
                </a:extLst>
              </p:cNvPr>
              <p:cNvCxnSpPr>
                <a:cxnSpLocks/>
                <a:stCxn id="54" idx="3"/>
                <a:endCxn id="79" idx="2"/>
              </p:cNvCxnSpPr>
              <p:nvPr/>
            </p:nvCxnSpPr>
            <p:spPr>
              <a:xfrm flipV="1">
                <a:off x="9158464" y="3766595"/>
                <a:ext cx="556564" cy="493666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nector: Elbow 84">
                <a:extLst>
                  <a:ext uri="{FF2B5EF4-FFF2-40B4-BE49-F238E27FC236}">
                    <a16:creationId xmlns:a16="http://schemas.microsoft.com/office/drawing/2014/main" id="{DE11CD48-02E3-7CB9-10E5-647F49141A9E}"/>
                  </a:ext>
                </a:extLst>
              </p:cNvPr>
              <p:cNvCxnSpPr>
                <a:cxnSpLocks/>
                <a:stCxn id="21" idx="1"/>
                <a:endCxn id="158" idx="2"/>
              </p:cNvCxnSpPr>
              <p:nvPr/>
            </p:nvCxnSpPr>
            <p:spPr>
              <a:xfrm rot="10800000">
                <a:off x="3688951" y="2940814"/>
                <a:ext cx="2848913" cy="598402"/>
              </a:xfrm>
              <a:prstGeom prst="bentConnector2">
                <a:avLst/>
              </a:prstGeom>
              <a:ln w="12700">
                <a:solidFill>
                  <a:schemeClr val="tx1"/>
                </a:solidFill>
                <a:prstDash val="sysDash"/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3" name="TextBox 122">
                <a:extLst>
                  <a:ext uri="{FF2B5EF4-FFF2-40B4-BE49-F238E27FC236}">
                    <a16:creationId xmlns:a16="http://schemas.microsoft.com/office/drawing/2014/main" id="{65CA9C66-DF70-7248-E232-D89D5A84B129}"/>
                  </a:ext>
                </a:extLst>
              </p:cNvPr>
              <p:cNvSpPr txBox="1"/>
              <p:nvPr/>
            </p:nvSpPr>
            <p:spPr>
              <a:xfrm>
                <a:off x="2189720" y="2585367"/>
                <a:ext cx="1523377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Neural Network</a:t>
                </a:r>
                <a:r>
                  <a:rPr lang="en-US" sz="16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s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F1453F49-AAC6-E8AB-75FB-94DA036E7CD2}"/>
                  </a:ext>
                </a:extLst>
              </p:cNvPr>
              <p:cNvSpPr txBox="1"/>
              <p:nvPr/>
            </p:nvSpPr>
            <p:spPr>
              <a:xfrm>
                <a:off x="6537863" y="3369939"/>
                <a:ext cx="1714665" cy="33855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Backpropagation</a:t>
                </a:r>
              </a:p>
            </p:txBody>
          </p:sp>
          <p:sp>
            <p:nvSpPr>
              <p:cNvPr id="220" name="Rectangle 219">
                <a:extLst>
                  <a:ext uri="{FF2B5EF4-FFF2-40B4-BE49-F238E27FC236}">
                    <a16:creationId xmlns:a16="http://schemas.microsoft.com/office/drawing/2014/main" id="{B8AB9D17-4470-8C53-1ACC-A207BBCEDDCF}"/>
                  </a:ext>
                </a:extLst>
              </p:cNvPr>
              <p:cNvSpPr/>
              <p:nvPr/>
            </p:nvSpPr>
            <p:spPr>
              <a:xfrm>
                <a:off x="7961946" y="1322010"/>
                <a:ext cx="1196518" cy="454757"/>
              </a:xfrm>
              <a:prstGeom prst="rect">
                <a:avLst/>
              </a:prstGeom>
              <a:noFill/>
              <a:ln w="12700" cap="flat" cmpd="sng" algn="ctr">
                <a:noFill/>
                <a:prstDash val="solid"/>
                <a:miter lim="800000"/>
              </a:ln>
              <a:effectLst/>
            </p:spPr>
            <p:txBody>
              <a:bodyPr rtlCol="0" anchor="ctr"/>
              <a:lstStyle/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1600" b="0" i="0" u="none" strike="noStrike" kern="0" cap="none" spc="0" normalizeH="0" baseline="0" noProof="0" dirty="0">
                    <a:ln>
                      <a:noFill/>
                    </a:ln>
                    <a:effectLst/>
                    <a:uLnTx/>
                    <a:uFillTx/>
                    <a:latin typeface="Arial" panose="020B0604020202020204" pitchFamily="34" charset="0"/>
                    <a:cs typeface="Arial" panose="020B0604020202020204" pitchFamily="34" charset="0"/>
                  </a:rPr>
                  <a:t>Simulated</a:t>
                </a:r>
              </a:p>
              <a:p>
                <a:pPr marL="0" marR="0" lvl="0" indent="0" algn="ctr" defTabSz="4572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sz="1600" kern="0" dirty="0">
                    <a:latin typeface="Arial" panose="020B0604020202020204" pitchFamily="34" charset="0"/>
                    <a:cs typeface="Arial" panose="020B0604020202020204" pitchFamily="34" charset="0"/>
                  </a:rPr>
                  <a:t>pressure</a:t>
                </a:r>
                <a:endParaRPr kumimoji="0" lang="en-US" sz="1600" b="0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259" name="Connector: Elbow 258">
                <a:extLst>
                  <a:ext uri="{FF2B5EF4-FFF2-40B4-BE49-F238E27FC236}">
                    <a16:creationId xmlns:a16="http://schemas.microsoft.com/office/drawing/2014/main" id="{F1508452-3C5A-F5F1-53D4-D606F8DA6F54}"/>
                  </a:ext>
                </a:extLst>
              </p:cNvPr>
              <p:cNvCxnSpPr>
                <a:cxnSpLocks/>
                <a:stCxn id="2" idx="1"/>
                <a:endCxn id="158" idx="1"/>
              </p:cNvCxnSpPr>
              <p:nvPr/>
            </p:nvCxnSpPr>
            <p:spPr>
              <a:xfrm rot="10800000">
                <a:off x="3016441" y="2419099"/>
                <a:ext cx="46656" cy="1841163"/>
              </a:xfrm>
              <a:prstGeom prst="bentConnector3">
                <a:avLst>
                  <a:gd name="adj1" fmla="val 1411853"/>
                </a:avLst>
              </a:prstGeom>
              <a:ln w="12700">
                <a:solidFill>
                  <a:schemeClr val="tx1"/>
                </a:solidFill>
                <a:tailEnd type="triangle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65" name="Straight Arrow Connector 264">
                <a:extLst>
                  <a:ext uri="{FF2B5EF4-FFF2-40B4-BE49-F238E27FC236}">
                    <a16:creationId xmlns:a16="http://schemas.microsoft.com/office/drawing/2014/main" id="{52E8FAFB-7C5A-A876-CB77-DD1E962F5279}"/>
                  </a:ext>
                </a:extLst>
              </p:cNvPr>
              <p:cNvCxnSpPr>
                <a:cxnSpLocks/>
                <a:stCxn id="10" idx="2"/>
                <a:endCxn id="54" idx="0"/>
              </p:cNvCxnSpPr>
              <p:nvPr/>
            </p:nvCxnSpPr>
            <p:spPr>
              <a:xfrm flipH="1">
                <a:off x="8560205" y="3003329"/>
                <a:ext cx="1" cy="936892"/>
              </a:xfrm>
              <a:prstGeom prst="straightConnector1">
                <a:avLst/>
              </a:prstGeom>
              <a:noFill/>
              <a:ln w="12700" cap="flat" cmpd="sng" algn="ctr">
                <a:solidFill>
                  <a:sysClr val="windowText" lastClr="000000"/>
                </a:solidFill>
                <a:prstDash val="solid"/>
                <a:miter lim="800000"/>
                <a:tailEnd type="triangle"/>
              </a:ln>
              <a:effectLst/>
            </p:spPr>
          </p:cxnSp>
        </p:grpSp>
      </p:grp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53452698-DEE5-5423-3E82-0FE5AECE645A}"/>
              </a:ext>
            </a:extLst>
          </p:cNvPr>
          <p:cNvCxnSpPr>
            <a:cxnSpLocks/>
            <a:stCxn id="21" idx="3"/>
            <a:endCxn id="79" idx="1"/>
          </p:cNvCxnSpPr>
          <p:nvPr/>
        </p:nvCxnSpPr>
        <p:spPr>
          <a:xfrm>
            <a:off x="8285044" y="3824352"/>
            <a:ext cx="864241" cy="1"/>
          </a:xfrm>
          <a:prstGeom prst="line">
            <a:avLst/>
          </a:prstGeom>
          <a:ln w="9525"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1948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24263</TotalTime>
  <Words>34</Words>
  <Application>Microsoft Office PowerPoint</Application>
  <PresentationFormat>Widescreen</PresentationFormat>
  <Paragraphs>21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>Los Alamos National Laboratory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Rashid, Harun Ur</dc:creator>
  <cp:lastModifiedBy>Harun U Rashid</cp:lastModifiedBy>
  <cp:revision>19</cp:revision>
  <dcterms:created xsi:type="dcterms:W3CDTF">2025-08-05T21:05:21Z</dcterms:created>
  <dcterms:modified xsi:type="dcterms:W3CDTF">2026-04-13T19:09:13Z</dcterms:modified>
</cp:coreProperties>
</file>